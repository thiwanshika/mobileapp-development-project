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73" r:id="rId3"/>
    <p:sldId id="257" r:id="rId4"/>
    <p:sldId id="258" r:id="rId5"/>
    <p:sldId id="269" r:id="rId6"/>
    <p:sldId id="259" r:id="rId7"/>
    <p:sldId id="266" r:id="rId8"/>
    <p:sldId id="260" r:id="rId9"/>
    <p:sldId id="263" r:id="rId10"/>
    <p:sldId id="264" r:id="rId11"/>
    <p:sldId id="265" r:id="rId12"/>
    <p:sldId id="262" r:id="rId13"/>
    <p:sldId id="271" r:id="rId14"/>
    <p:sldId id="267" r:id="rId15"/>
    <p:sldId id="274" r:id="rId16"/>
    <p:sldId id="272"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94" autoAdjust="0"/>
  </p:normalViewPr>
  <p:slideViewPr>
    <p:cSldViewPr>
      <p:cViewPr varScale="1">
        <p:scale>
          <a:sx n="80" d="100"/>
          <a:sy n="80" d="100"/>
        </p:scale>
        <p:origin x="170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FC43734-3EAE-4942-B99F-8157649C9421}"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1666634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FC43734-3EAE-4942-B99F-8157649C9421}"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326635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FC43734-3EAE-4942-B99F-8157649C9421}"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307398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FC43734-3EAE-4942-B99F-8157649C9421}"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273890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FC43734-3EAE-4942-B99F-8157649C9421}" type="datetimeFigureOut">
              <a:rPr lang="en-US" smtClean="0"/>
              <a:t>7/12/2023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218877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FC43734-3EAE-4942-B99F-8157649C9421}" type="datetimeFigureOut">
              <a:rPr lang="en-US" smtClean="0"/>
              <a:t>7/12/2023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3544195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C43734-3EAE-4942-B99F-8157649C9421}" type="datetimeFigureOut">
              <a:rPr lang="en-US" smtClean="0"/>
              <a:t>7/12/2023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3711635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FC43734-3EAE-4942-B99F-8157649C9421}"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2614817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FC43734-3EAE-4942-B99F-8157649C9421}" type="datetimeFigureOut">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103247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FC43734-3EAE-4942-B99F-8157649C9421}"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168710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FC43734-3EAE-4942-B99F-8157649C9421}" type="datetimeFigureOut">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4F2A9-E225-4A29-B213-630A6A8D7634}" type="slidenum">
              <a:rPr lang="en-US" smtClean="0"/>
              <a:t>‹#›</a:t>
            </a:fld>
            <a:endParaRPr lang="en-US"/>
          </a:p>
        </p:txBody>
      </p:sp>
    </p:spTree>
    <p:extLst>
      <p:ext uri="{BB962C8B-B14F-4D97-AF65-F5344CB8AC3E}">
        <p14:creationId xmlns:p14="http://schemas.microsoft.com/office/powerpoint/2010/main" val="1835732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FC43734-3EAE-4942-B99F-8157649C9421}" type="datetimeFigureOut">
              <a:rPr lang="en-US" smtClean="0"/>
              <a:t>7/12/2023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494F2A9-E225-4A29-B213-630A6A8D7634}" type="slidenum">
              <a:rPr lang="en-US" smtClean="0"/>
              <a:t>‹#›</a:t>
            </a:fld>
            <a:endParaRPr lang="en-US"/>
          </a:p>
        </p:txBody>
      </p:sp>
    </p:spTree>
    <p:extLst>
      <p:ext uri="{BB962C8B-B14F-4D97-AF65-F5344CB8AC3E}">
        <p14:creationId xmlns:p14="http://schemas.microsoft.com/office/powerpoint/2010/main" val="346313379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0904"/>
            <a:ext cx="7772400" cy="1543050"/>
          </a:xfrm>
        </p:spPr>
        <p:txBody>
          <a:bodyPr>
            <a:normAutofit/>
          </a:bodyPr>
          <a:lstStyle/>
          <a:p>
            <a:r>
              <a:rPr lang="en-US" dirty="0" smtClean="0">
                <a:latin typeface="Arial Black" panose="020B0A04020102020204" pitchFamily="34" charset="0"/>
              </a:rPr>
              <a:t>Mobile Application Development</a:t>
            </a:r>
            <a:endParaRPr lang="en-US" dirty="0">
              <a:latin typeface="Arial Black" panose="020B0A04020102020204"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0800" y="1566411"/>
            <a:ext cx="3962400" cy="5291589"/>
          </a:xfrm>
          <a:prstGeom prst="rect">
            <a:avLst/>
          </a:prstGeom>
        </p:spPr>
      </p:pic>
      <p:sp>
        <p:nvSpPr>
          <p:cNvPr id="5" name="Rectangle 4"/>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p:cNvSpPr/>
          <p:nvPr/>
        </p:nvSpPr>
        <p:spPr>
          <a:xfrm rot="7588988">
            <a:off x="6534613" y="4744721"/>
            <a:ext cx="4297478" cy="2032166"/>
          </a:xfrm>
          <a:prstGeom prst="triangle">
            <a:avLst>
              <a:gd name="adj" fmla="val 6400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1771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Arial Black" panose="020B0A04020102020204" pitchFamily="34" charset="0"/>
              </a:rPr>
              <a:t>GROUP MEMBERS</a:t>
            </a:r>
            <a:endParaRPr lang="en-US" sz="2800" dirty="0"/>
          </a:p>
        </p:txBody>
      </p:sp>
      <p:sp>
        <p:nvSpPr>
          <p:cNvPr id="3" name="Content Placeholder 2"/>
          <p:cNvSpPr>
            <a:spLocks noGrp="1"/>
          </p:cNvSpPr>
          <p:nvPr>
            <p:ph idx="1"/>
          </p:nvPr>
        </p:nvSpPr>
        <p:spPr/>
        <p:txBody>
          <a:bodyPr/>
          <a:lstStyle/>
          <a:p>
            <a:pPr marL="285750" indent="-285750">
              <a:lnSpc>
                <a:spcPct val="150000"/>
              </a:lnSpc>
            </a:pPr>
            <a:r>
              <a:rPr lang="en-US" sz="2400" dirty="0" err="1">
                <a:latin typeface="Times New Roman" panose="02020603050405020304" pitchFamily="18" charset="0"/>
                <a:cs typeface="Times New Roman" panose="02020603050405020304" pitchFamily="18" charset="0"/>
              </a:rPr>
              <a:t>Chathura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Madushan</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pPr>
            <a:r>
              <a:rPr lang="en-US" sz="2400" dirty="0" err="1">
                <a:latin typeface="Times New Roman" panose="02020603050405020304" pitchFamily="18" charset="0"/>
                <a:cs typeface="Times New Roman" panose="02020603050405020304" pitchFamily="18" charset="0"/>
              </a:rPr>
              <a:t>Pasindu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Dananjaya</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pPr>
            <a:r>
              <a:rPr lang="en-US" sz="2400" dirty="0" err="1">
                <a:latin typeface="Times New Roman" panose="02020603050405020304" pitchFamily="18" charset="0"/>
                <a:cs typeface="Times New Roman" panose="02020603050405020304" pitchFamily="18" charset="0"/>
              </a:rPr>
              <a:t>Kaveesha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Prasanna</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pPr>
            <a:r>
              <a:rPr lang="en-US" sz="2400" dirty="0" err="1">
                <a:latin typeface="Times New Roman" panose="02020603050405020304" pitchFamily="18" charset="0"/>
                <a:cs typeface="Times New Roman" panose="02020603050405020304" pitchFamily="18" charset="0"/>
              </a:rPr>
              <a:t>Thiwanshika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Isuruni</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1829636"/>
            <a:ext cx="3651801" cy="4876800"/>
          </a:xfrm>
          <a:prstGeom prst="rect">
            <a:avLst/>
          </a:prstGeom>
        </p:spPr>
      </p:pic>
    </p:spTree>
    <p:extLst>
      <p:ext uri="{BB962C8B-B14F-4D97-AF65-F5344CB8AC3E}">
        <p14:creationId xmlns:p14="http://schemas.microsoft.com/office/powerpoint/2010/main" val="2449322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76860" y="457200"/>
            <a:ext cx="3581400" cy="1219200"/>
          </a:xfrm>
        </p:spPr>
        <p:txBody>
          <a:bodyPr>
            <a:normAutofit/>
          </a:bodyPr>
          <a:lstStyle/>
          <a:p>
            <a:pPr algn="l"/>
            <a:r>
              <a:rPr lang="en-US" dirty="0">
                <a:latin typeface="Arial Black" panose="020B0A04020102020204" pitchFamily="34" charset="0"/>
              </a:rPr>
              <a:t> </a:t>
            </a:r>
            <a:r>
              <a:rPr lang="en-US" sz="3100" dirty="0">
                <a:latin typeface="Arial Black" panose="020B0A04020102020204" pitchFamily="34" charset="0"/>
              </a:rPr>
              <a:t>Content</a:t>
            </a:r>
          </a:p>
        </p:txBody>
      </p:sp>
      <p:sp>
        <p:nvSpPr>
          <p:cNvPr id="3" name="Subtitle 2"/>
          <p:cNvSpPr>
            <a:spLocks noGrp="1"/>
          </p:cNvSpPr>
          <p:nvPr>
            <p:ph type="subTitle" idx="1"/>
          </p:nvPr>
        </p:nvSpPr>
        <p:spPr>
          <a:xfrm>
            <a:off x="914400" y="1752600"/>
            <a:ext cx="7315200" cy="2514600"/>
          </a:xfrm>
        </p:spPr>
        <p:txBody>
          <a:bodyPr>
            <a:normAutofit/>
          </a:bodyPr>
          <a:lstStyle/>
          <a:p>
            <a:pPr marL="457200" indent="-457200">
              <a:buFont typeface="Arial" pitchFamily="34" charset="0"/>
              <a:buChar char="•"/>
            </a:pPr>
            <a:endParaRPr lang="en-US" b="1" dirty="0" smtClean="0"/>
          </a:p>
          <a:p>
            <a:pPr marL="457200" indent="-457200">
              <a:buFont typeface="Arial" pitchFamily="34" charset="0"/>
              <a:buChar char="•"/>
            </a:pPr>
            <a:endParaRPr lang="en-US" dirty="0"/>
          </a:p>
        </p:txBody>
      </p:sp>
      <p:sp>
        <p:nvSpPr>
          <p:cNvPr id="4" name="TextBox 3"/>
          <p:cNvSpPr txBox="1"/>
          <p:nvPr/>
        </p:nvSpPr>
        <p:spPr>
          <a:xfrm>
            <a:off x="1219200" y="2133600"/>
            <a:ext cx="4495800" cy="3691267"/>
          </a:xfrm>
          <a:prstGeom prst="rect">
            <a:avLst/>
          </a:prstGeom>
          <a:noFill/>
        </p:spPr>
        <p:txBody>
          <a:bodyPr wrap="square" rtlCol="0">
            <a:spAutoFit/>
          </a:bodyPr>
          <a:lstStyle/>
          <a:p>
            <a:pPr marL="171450" indent="-171450" defTabSz="685800">
              <a:lnSpc>
                <a:spcPct val="90000"/>
              </a:lnSpc>
              <a:spcBef>
                <a:spcPts val="750"/>
              </a:spcBef>
              <a:buFont typeface="Arial" panose="020B0604020202020204" pitchFamily="34" charset="0"/>
              <a:buChar char="•"/>
            </a:pPr>
            <a:r>
              <a:rPr lang="en-US" sz="2600" dirty="0" smtClean="0">
                <a:cs typeface="Times New Roman" panose="02020603050405020304" pitchFamily="18" charset="0"/>
              </a:rPr>
              <a:t>Introduction</a:t>
            </a: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Problem Statement</a:t>
            </a: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Architecture</a:t>
            </a: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Functions</a:t>
            </a: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Project Plan</a:t>
            </a: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Work break down structure</a:t>
            </a:r>
          </a:p>
          <a:p>
            <a:pPr marL="171450" indent="-171450" defTabSz="685800">
              <a:lnSpc>
                <a:spcPct val="90000"/>
              </a:lnSpc>
              <a:spcBef>
                <a:spcPts val="750"/>
              </a:spcBef>
              <a:buFont typeface="Arial" panose="020B0604020202020204" pitchFamily="34" charset="0"/>
              <a:buChar char="•"/>
            </a:pPr>
            <a:r>
              <a:rPr lang="en-US" sz="2600" dirty="0" err="1">
                <a:cs typeface="Times New Roman" panose="02020603050405020304" pitchFamily="18" charset="0"/>
              </a:rPr>
              <a:t>Conculation</a:t>
            </a:r>
            <a:endParaRPr lang="en-US" sz="2600" dirty="0">
              <a:cs typeface="Times New Roman" panose="02020603050405020304" pitchFamily="18" charset="0"/>
            </a:endParaRPr>
          </a:p>
          <a:p>
            <a:pPr marL="171450" indent="-171450" defTabSz="685800">
              <a:lnSpc>
                <a:spcPct val="90000"/>
              </a:lnSpc>
              <a:spcBef>
                <a:spcPts val="750"/>
              </a:spcBef>
              <a:buFont typeface="Arial" panose="020B0604020202020204" pitchFamily="34" charset="0"/>
              <a:buChar char="•"/>
            </a:pPr>
            <a:r>
              <a:rPr lang="en-US" sz="2600" dirty="0">
                <a:cs typeface="Times New Roman" panose="02020603050405020304" pitchFamily="18" charset="0"/>
              </a:rPr>
              <a:t>Any Question</a:t>
            </a:r>
          </a:p>
        </p:txBody>
      </p:sp>
      <p:sp>
        <p:nvSpPr>
          <p:cNvPr id="5" name="Rectangle 4"/>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7800" y="1981200"/>
            <a:ext cx="3651801" cy="4876800"/>
          </a:xfrm>
          <a:prstGeom prst="rect">
            <a:avLst/>
          </a:prstGeom>
        </p:spPr>
      </p:pic>
    </p:spTree>
    <p:extLst>
      <p:ext uri="{BB962C8B-B14F-4D97-AF65-F5344CB8AC3E}">
        <p14:creationId xmlns:p14="http://schemas.microsoft.com/office/powerpoint/2010/main" val="4189737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dirty="0">
                <a:latin typeface="Arial Black" panose="020B0A04020102020204" pitchFamily="34" charset="0"/>
              </a:rPr>
              <a:t>INTRODUCTION</a:t>
            </a:r>
          </a:p>
        </p:txBody>
      </p:sp>
      <p:sp>
        <p:nvSpPr>
          <p:cNvPr id="3" name="Content Placeholder 2"/>
          <p:cNvSpPr>
            <a:spLocks noGrp="1"/>
          </p:cNvSpPr>
          <p:nvPr>
            <p:ph idx="1"/>
          </p:nvPr>
        </p:nvSpPr>
        <p:spPr>
          <a:xfrm>
            <a:off x="381000" y="1690689"/>
            <a:ext cx="8229600" cy="4786311"/>
          </a:xfrm>
        </p:spPr>
        <p:txBody>
          <a:bodyPr>
            <a:normAutofit/>
          </a:bodyPr>
          <a:lstStyle/>
          <a:p>
            <a:pPr>
              <a:lnSpc>
                <a:spcPct val="150000"/>
              </a:lnSpc>
            </a:pPr>
            <a:r>
              <a:rPr lang="en-US" sz="2000" dirty="0" smtClean="0">
                <a:cs typeface="Times New Roman" panose="02020603050405020304" pitchFamily="18" charset="0"/>
              </a:rPr>
              <a:t>The system we have developed is designed to provide users with comprehensive information about various courses, course centers, and easy registration options.</a:t>
            </a:r>
          </a:p>
          <a:p>
            <a:pPr>
              <a:lnSpc>
                <a:spcPct val="150000"/>
              </a:lnSpc>
            </a:pPr>
            <a:r>
              <a:rPr lang="en-US" sz="2000" dirty="0" smtClean="0">
                <a:cs typeface="Times New Roman" panose="02020603050405020304" pitchFamily="18" charset="0"/>
              </a:rPr>
              <a:t> It aims to streamline the process of accessing course details and simplifying the registration process for interested individuals.</a:t>
            </a:r>
          </a:p>
          <a:p>
            <a:pPr>
              <a:lnSpc>
                <a:spcPct val="150000"/>
              </a:lnSpc>
            </a:pPr>
            <a:r>
              <a:rPr lang="en-US" sz="2000" dirty="0" smtClean="0">
                <a:cs typeface="Times New Roman" panose="02020603050405020304" pitchFamily="18" charset="0"/>
              </a:rPr>
              <a:t> Additionally, the system offers a summary of all available courses, allowing users to get a quick overview of the offerings.</a:t>
            </a:r>
          </a:p>
          <a:p>
            <a:pPr>
              <a:lnSpc>
                <a:spcPct val="150000"/>
              </a:lnSpc>
            </a:pPr>
            <a:endParaRPr lang="en-US" sz="2600" dirty="0" smtClean="0"/>
          </a:p>
          <a:p>
            <a:endParaRPr lang="en-US" dirty="0"/>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8716" y="4648200"/>
            <a:ext cx="2055337" cy="2209800"/>
          </a:xfrm>
          <a:prstGeom prst="rect">
            <a:avLst/>
          </a:prstGeom>
        </p:spPr>
      </p:pic>
    </p:spTree>
    <p:extLst>
      <p:ext uri="{BB962C8B-B14F-4D97-AF65-F5344CB8AC3E}">
        <p14:creationId xmlns:p14="http://schemas.microsoft.com/office/powerpoint/2010/main" val="360213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lvl="1" indent="0"/>
            <a:r>
              <a:rPr lang="en-US" sz="3100" kern="1200" dirty="0">
                <a:solidFill>
                  <a:schemeClr val="tx1"/>
                </a:solidFill>
                <a:latin typeface="Arial Black" panose="020B0A04020102020204" pitchFamily="34" charset="0"/>
                <a:ea typeface="+mj-ea"/>
                <a:cs typeface="+mj-cs"/>
              </a:rPr>
              <a:t>Problem Statement</a:t>
            </a:r>
            <a:br>
              <a:rPr lang="en-US" sz="3100" kern="1200" dirty="0">
                <a:solidFill>
                  <a:schemeClr val="tx1"/>
                </a:solidFill>
                <a:latin typeface="Arial Black" panose="020B0A04020102020204" pitchFamily="34" charset="0"/>
                <a:ea typeface="+mj-ea"/>
                <a:cs typeface="+mj-cs"/>
              </a:rPr>
            </a:br>
            <a:r>
              <a:rPr lang="en-US" dirty="0" smtClean="0"/>
              <a:t> </a:t>
            </a:r>
            <a:br>
              <a:rPr lang="en-US" dirty="0" smtClean="0"/>
            </a:br>
            <a:endParaRPr lang="en-US" dirty="0"/>
          </a:p>
        </p:txBody>
      </p:sp>
      <p:sp>
        <p:nvSpPr>
          <p:cNvPr id="3" name="Content Placeholder 2"/>
          <p:cNvSpPr>
            <a:spLocks noGrp="1"/>
          </p:cNvSpPr>
          <p:nvPr>
            <p:ph idx="1"/>
          </p:nvPr>
        </p:nvSpPr>
        <p:spPr>
          <a:xfrm>
            <a:off x="1219200" y="2055812"/>
            <a:ext cx="6915150" cy="2746375"/>
          </a:xfrm>
        </p:spPr>
        <p:txBody>
          <a:bodyPr>
            <a:normAutofit lnSpcReduction="10000"/>
          </a:bodyPr>
          <a:lstStyle/>
          <a:p>
            <a:pPr lvl="0">
              <a:lnSpc>
                <a:spcPct val="150000"/>
              </a:lnSpc>
            </a:pPr>
            <a:r>
              <a:rPr lang="en-US" sz="2000" dirty="0">
                <a:cs typeface="Times New Roman" panose="02020603050405020304" pitchFamily="18" charset="0"/>
              </a:rPr>
              <a:t>There is a lack of a consolidated overview of all available courses.</a:t>
            </a:r>
          </a:p>
          <a:p>
            <a:pPr lvl="0">
              <a:lnSpc>
                <a:spcPct val="150000"/>
              </a:lnSpc>
            </a:pPr>
            <a:r>
              <a:rPr lang="en-US" sz="2000" dirty="0">
                <a:cs typeface="Times New Roman" panose="02020603050405020304" pitchFamily="18" charset="0"/>
              </a:rPr>
              <a:t>Existing methods are often inefficient.</a:t>
            </a:r>
          </a:p>
          <a:p>
            <a:pPr lvl="0">
              <a:lnSpc>
                <a:spcPct val="150000"/>
              </a:lnSpc>
            </a:pPr>
            <a:r>
              <a:rPr lang="en-US" sz="2000" dirty="0">
                <a:cs typeface="Times New Roman" panose="02020603050405020304" pitchFamily="18" charset="0"/>
              </a:rPr>
              <a:t>Time-consuming.</a:t>
            </a:r>
          </a:p>
          <a:p>
            <a:pPr lvl="0">
              <a:lnSpc>
                <a:spcPct val="150000"/>
              </a:lnSpc>
            </a:pPr>
            <a:r>
              <a:rPr lang="en-US" sz="2000" dirty="0">
                <a:cs typeface="Times New Roman" panose="02020603050405020304" pitchFamily="18" charset="0"/>
              </a:rPr>
              <a:t>lack user-friendliness</a:t>
            </a:r>
            <a:r>
              <a:rPr lang="en-US" sz="2600" dirty="0">
                <a:latin typeface="Times New Roman" panose="02020603050405020304" pitchFamily="18" charset="0"/>
                <a:cs typeface="Times New Roman" panose="02020603050405020304" pitchFamily="18" charset="0"/>
              </a:rPr>
              <a:t>.</a:t>
            </a:r>
          </a:p>
          <a:p>
            <a:pPr>
              <a:lnSpc>
                <a:spcPct val="200000"/>
              </a:lnSpc>
            </a:pPr>
            <a:endParaRPr lang="en-US" sz="2600" dirty="0" smtClean="0"/>
          </a:p>
          <a:p>
            <a:endParaRPr lang="en-US" dirty="0"/>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4200" y="4081115"/>
            <a:ext cx="2055337" cy="2744801"/>
          </a:xfrm>
          <a:prstGeom prst="rect">
            <a:avLst/>
          </a:prstGeom>
        </p:spPr>
      </p:pic>
    </p:spTree>
    <p:extLst>
      <p:ext uri="{BB962C8B-B14F-4D97-AF65-F5344CB8AC3E}">
        <p14:creationId xmlns:p14="http://schemas.microsoft.com/office/powerpoint/2010/main" val="23944752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100" dirty="0">
                <a:latin typeface="Arial Black" panose="020B0A04020102020204" pitchFamily="34" charset="0"/>
              </a:rPr>
              <a:t>ARCHITECTURE</a:t>
            </a:r>
          </a:p>
        </p:txBody>
      </p:sp>
      <p:sp>
        <p:nvSpPr>
          <p:cNvPr id="3" name="Content Placeholder 2"/>
          <p:cNvSpPr>
            <a:spLocks noGrp="1"/>
          </p:cNvSpPr>
          <p:nvPr>
            <p:ph idx="1"/>
          </p:nvPr>
        </p:nvSpPr>
        <p:spPr/>
        <p:txBody>
          <a:bodyPr>
            <a:noAutofit/>
          </a:bodyPr>
          <a:lstStyle/>
          <a:p>
            <a:pPr>
              <a:lnSpc>
                <a:spcPct val="150000"/>
              </a:lnSpc>
            </a:pPr>
            <a:r>
              <a:rPr lang="en-US" sz="2000" dirty="0">
                <a:cs typeface="Times New Roman" panose="02020603050405020304" pitchFamily="18" charset="0"/>
              </a:rPr>
              <a:t>For the VTA, we created an Android mobile application, using Firebase as the database. </a:t>
            </a:r>
          </a:p>
          <a:p>
            <a:pPr>
              <a:lnSpc>
                <a:spcPct val="150000"/>
              </a:lnSpc>
            </a:pPr>
            <a:r>
              <a:rPr lang="en-US" sz="2000" dirty="0">
                <a:cs typeface="Times New Roman" panose="02020603050405020304" pitchFamily="18" charset="0"/>
              </a:rPr>
              <a:t>The information entered into the registration form by the student is transmitted securely via the internet to the firebase where it is kept.</a:t>
            </a:r>
          </a:p>
          <a:p>
            <a:pPr>
              <a:lnSpc>
                <a:spcPct val="150000"/>
              </a:lnSpc>
            </a:pPr>
            <a:r>
              <a:rPr lang="en-US" sz="2000" dirty="0">
                <a:cs typeface="Times New Roman" panose="02020603050405020304" pitchFamily="18" charset="0"/>
              </a:rPr>
              <a:t> While the admin panel interface enables authorized personnel to access and view the information of registered students, the course interfaces inside the app allow users to select a course and read full information.</a:t>
            </a:r>
          </a:p>
          <a:p>
            <a:pPr>
              <a:lnSpc>
                <a:spcPct val="150000"/>
              </a:lnSpc>
            </a:pPr>
            <a:r>
              <a:rPr lang="en-US" sz="2000" dirty="0">
                <a:cs typeface="Times New Roman" panose="02020603050405020304" pitchFamily="18" charset="0"/>
              </a:rPr>
              <a:t> The register form and the Firebase database are easily coupled, resulting in effective data management and retrieval.</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02399" y="4572000"/>
            <a:ext cx="1825901" cy="2438400"/>
          </a:xfrm>
          <a:prstGeom prst="rect">
            <a:avLst/>
          </a:prstGeom>
        </p:spPr>
      </p:pic>
      <p:sp>
        <p:nvSpPr>
          <p:cNvPr id="5" name="Rectangle 4"/>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22038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ound Diagonal Corner Rectangle 34"/>
          <p:cNvSpPr/>
          <p:nvPr/>
        </p:nvSpPr>
        <p:spPr>
          <a:xfrm>
            <a:off x="525420" y="2562727"/>
            <a:ext cx="1912980" cy="876488"/>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VTA Background</a:t>
            </a:r>
          </a:p>
          <a:p>
            <a:pPr algn="ctr"/>
            <a:r>
              <a:rPr lang="en-US" dirty="0" smtClean="0">
                <a:ln w="0"/>
                <a:solidFill>
                  <a:schemeClr val="tx1"/>
                </a:solidFill>
                <a:effectLst>
                  <a:outerShdw blurRad="38100" dist="19050" dir="2700000" algn="tl" rotWithShape="0">
                    <a:schemeClr val="dk1">
                      <a:alpha val="40000"/>
                    </a:schemeClr>
                  </a:outerShdw>
                </a:effectLst>
              </a:rPr>
              <a:t>Details</a:t>
            </a:r>
            <a:endParaRPr lang="en-US" dirty="0">
              <a:ln w="0"/>
              <a:solidFill>
                <a:schemeClr val="tx1"/>
              </a:solidFill>
              <a:effectLst>
                <a:outerShdw blurRad="38100" dist="19050" dir="2700000" algn="tl" rotWithShape="0">
                  <a:schemeClr val="dk1">
                    <a:alpha val="40000"/>
                  </a:schemeClr>
                </a:outerShdw>
              </a:effectLst>
            </a:endParaRPr>
          </a:p>
        </p:txBody>
      </p:sp>
      <p:sp>
        <p:nvSpPr>
          <p:cNvPr id="38" name="Rectangle 37"/>
          <p:cNvSpPr/>
          <p:nvPr/>
        </p:nvSpPr>
        <p:spPr>
          <a:xfrm>
            <a:off x="655096" y="1606404"/>
            <a:ext cx="7869072" cy="1181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ound Diagonal Corner Rectangle 39"/>
          <p:cNvSpPr/>
          <p:nvPr/>
        </p:nvSpPr>
        <p:spPr>
          <a:xfrm>
            <a:off x="2713197" y="2550695"/>
            <a:ext cx="1997160" cy="900551"/>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Course Details</a:t>
            </a:r>
            <a:endParaRPr lang="en-US" dirty="0">
              <a:ln w="0"/>
              <a:solidFill>
                <a:schemeClr val="tx1"/>
              </a:solidFill>
              <a:effectLst>
                <a:outerShdw blurRad="38100" dist="19050" dir="2700000" algn="tl" rotWithShape="0">
                  <a:schemeClr val="dk1">
                    <a:alpha val="40000"/>
                  </a:schemeClr>
                </a:outerShdw>
              </a:effectLst>
            </a:endParaRPr>
          </a:p>
        </p:txBody>
      </p:sp>
      <p:sp>
        <p:nvSpPr>
          <p:cNvPr id="43" name="Round Diagonal Corner Rectangle 42"/>
          <p:cNvSpPr/>
          <p:nvPr/>
        </p:nvSpPr>
        <p:spPr>
          <a:xfrm>
            <a:off x="5181600" y="2514599"/>
            <a:ext cx="1860954" cy="924615"/>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Center Details</a:t>
            </a:r>
            <a:endParaRPr lang="en-US" dirty="0">
              <a:ln w="0"/>
              <a:solidFill>
                <a:schemeClr val="tx1"/>
              </a:solidFill>
              <a:effectLst>
                <a:outerShdw blurRad="38100" dist="19050" dir="2700000" algn="tl" rotWithShape="0">
                  <a:schemeClr val="dk1">
                    <a:alpha val="40000"/>
                  </a:schemeClr>
                </a:outerShdw>
              </a:effectLst>
            </a:endParaRPr>
          </a:p>
        </p:txBody>
      </p:sp>
      <p:sp>
        <p:nvSpPr>
          <p:cNvPr id="48" name="Down Arrow 47"/>
          <p:cNvSpPr/>
          <p:nvPr/>
        </p:nvSpPr>
        <p:spPr>
          <a:xfrm>
            <a:off x="717648" y="1691345"/>
            <a:ext cx="158369" cy="62564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Down Arrow 50"/>
          <p:cNvSpPr/>
          <p:nvPr/>
        </p:nvSpPr>
        <p:spPr>
          <a:xfrm>
            <a:off x="2892088" y="1724526"/>
            <a:ext cx="158369" cy="62564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Down Arrow 51"/>
          <p:cNvSpPr/>
          <p:nvPr/>
        </p:nvSpPr>
        <p:spPr>
          <a:xfrm>
            <a:off x="7467600" y="1734192"/>
            <a:ext cx="158369" cy="62564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Down Arrow 52"/>
          <p:cNvSpPr/>
          <p:nvPr/>
        </p:nvSpPr>
        <p:spPr>
          <a:xfrm>
            <a:off x="5331015" y="1724526"/>
            <a:ext cx="158369" cy="62564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Round Diagonal Corner Rectangle 53"/>
          <p:cNvSpPr/>
          <p:nvPr/>
        </p:nvSpPr>
        <p:spPr>
          <a:xfrm>
            <a:off x="7268872" y="2498557"/>
            <a:ext cx="1722727" cy="952689"/>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Registration Form</a:t>
            </a:r>
            <a:endParaRPr lang="en-US" dirty="0">
              <a:ln w="0"/>
              <a:solidFill>
                <a:schemeClr val="tx1"/>
              </a:solidFill>
              <a:effectLst>
                <a:outerShdw blurRad="38100" dist="19050" dir="2700000" algn="tl" rotWithShape="0">
                  <a:schemeClr val="dk1">
                    <a:alpha val="40000"/>
                  </a:schemeClr>
                </a:outerShdw>
              </a:effectLst>
            </a:endParaRPr>
          </a:p>
        </p:txBody>
      </p:sp>
      <p:pic>
        <p:nvPicPr>
          <p:cNvPr id="59" name="Picture 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8819" y="4265382"/>
            <a:ext cx="1565540" cy="1636535"/>
          </a:xfrm>
          <a:prstGeom prst="rect">
            <a:avLst/>
          </a:prstGeom>
        </p:spPr>
      </p:pic>
      <p:pic>
        <p:nvPicPr>
          <p:cNvPr id="60" name="Picture 5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4362" y="4457889"/>
            <a:ext cx="1557901" cy="1557901"/>
          </a:xfrm>
          <a:prstGeom prst="rect">
            <a:avLst/>
          </a:prstGeom>
        </p:spPr>
      </p:pic>
      <p:sp>
        <p:nvSpPr>
          <p:cNvPr id="61" name="Down Arrow 60"/>
          <p:cNvSpPr/>
          <p:nvPr/>
        </p:nvSpPr>
        <p:spPr>
          <a:xfrm rot="5400000">
            <a:off x="5883476" y="4683501"/>
            <a:ext cx="457200" cy="1125763"/>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4" name="Down Arrow 63"/>
          <p:cNvSpPr/>
          <p:nvPr/>
        </p:nvSpPr>
        <p:spPr>
          <a:xfrm>
            <a:off x="7901634" y="3491351"/>
            <a:ext cx="480365" cy="73392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Round Diagonal Corner Rectangle 66"/>
          <p:cNvSpPr/>
          <p:nvPr/>
        </p:nvSpPr>
        <p:spPr>
          <a:xfrm>
            <a:off x="7089711" y="6003758"/>
            <a:ext cx="1901888" cy="774031"/>
          </a:xfrm>
          <a:prstGeom prst="round2Diag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Information store database</a:t>
            </a:r>
            <a:endParaRPr lang="en-US" dirty="0">
              <a:ln w="0"/>
              <a:solidFill>
                <a:schemeClr val="tx1"/>
              </a:solidFill>
              <a:effectLst>
                <a:outerShdw blurRad="38100" dist="19050" dir="2700000" algn="tl" rotWithShape="0">
                  <a:schemeClr val="dk1">
                    <a:alpha val="40000"/>
                  </a:schemeClr>
                </a:outerShdw>
              </a:effectLst>
            </a:endParaRPr>
          </a:p>
        </p:txBody>
      </p:sp>
      <p:sp>
        <p:nvSpPr>
          <p:cNvPr id="68" name="Round Diagonal Corner Rectangle 67"/>
          <p:cNvSpPr/>
          <p:nvPr/>
        </p:nvSpPr>
        <p:spPr>
          <a:xfrm>
            <a:off x="3711777" y="6003758"/>
            <a:ext cx="1777607" cy="774031"/>
          </a:xfrm>
          <a:prstGeom prst="round2Diag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Admin Panel</a:t>
            </a:r>
            <a:endParaRPr lang="en-US" dirty="0">
              <a:ln w="0"/>
              <a:solidFill>
                <a:schemeClr val="tx1"/>
              </a:solidFill>
              <a:effectLst>
                <a:outerShdw blurRad="38100" dist="19050" dir="2700000" algn="tl" rotWithShape="0">
                  <a:schemeClr val="dk1">
                    <a:alpha val="40000"/>
                  </a:schemeClr>
                </a:outerShdw>
              </a:effectLst>
            </a:endParaRPr>
          </a:p>
        </p:txBody>
      </p:sp>
      <p:pic>
        <p:nvPicPr>
          <p:cNvPr id="69" name="Picture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7461" y="167619"/>
            <a:ext cx="1331701" cy="1331701"/>
          </a:xfrm>
          <a:prstGeom prst="rect">
            <a:avLst/>
          </a:prstGeom>
        </p:spPr>
      </p:pic>
    </p:spTree>
    <p:extLst>
      <p:ext uri="{BB962C8B-B14F-4D97-AF65-F5344CB8AC3E}">
        <p14:creationId xmlns:p14="http://schemas.microsoft.com/office/powerpoint/2010/main" val="476555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2286000"/>
            <a:ext cx="4800600" cy="2038068"/>
          </a:xfrm>
        </p:spPr>
        <p:style>
          <a:lnRef idx="1">
            <a:schemeClr val="dk1"/>
          </a:lnRef>
          <a:fillRef idx="2">
            <a:schemeClr val="dk1"/>
          </a:fillRef>
          <a:effectRef idx="1">
            <a:schemeClr val="dk1"/>
          </a:effectRef>
          <a:fontRef idx="minor">
            <a:schemeClr val="dk1"/>
          </a:fontRef>
        </p:style>
        <p:txBody>
          <a:bodyPr>
            <a:noAutofit/>
          </a:bodyPr>
          <a:lstStyle/>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can click the start button then user can see menu interface</a:t>
            </a:r>
            <a:r>
              <a:rPr lang="en-US" sz="2000" dirty="0" smtClean="0">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 of the interface: - All registered and unregistered/back end and front end users.</a:t>
            </a:r>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TextBox 2"/>
          <p:cNvSpPr txBox="1"/>
          <p:nvPr/>
        </p:nvSpPr>
        <p:spPr>
          <a:xfrm>
            <a:off x="2381956" y="427419"/>
            <a:ext cx="4139531" cy="521681"/>
          </a:xfrm>
          <a:prstGeom prst="rect">
            <a:avLst/>
          </a:prstGeom>
          <a:noFill/>
        </p:spPr>
        <p:txBody>
          <a:bodyPr wrap="none" rtlCol="0">
            <a:spAutoFit/>
          </a:bodyPr>
          <a:lstStyle/>
          <a:p>
            <a:pPr algn="ctr" defTabSz="685800">
              <a:lnSpc>
                <a:spcPct val="90000"/>
              </a:lnSpc>
              <a:spcBef>
                <a:spcPct val="0"/>
              </a:spcBef>
            </a:pPr>
            <a:r>
              <a:rPr lang="en-US" sz="3100" dirty="0">
                <a:latin typeface="Arial Black" panose="020B0A04020102020204" pitchFamily="34" charset="0"/>
                <a:ea typeface="+mj-ea"/>
                <a:cs typeface="+mj-cs"/>
              </a:rPr>
              <a:t>HOME INTERFACE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1143000"/>
            <a:ext cx="2802598" cy="5380419"/>
          </a:xfrm>
          <a:prstGeom prst="rect">
            <a:avLst/>
          </a:prstGeom>
        </p:spPr>
      </p:pic>
    </p:spTree>
    <p:extLst>
      <p:ext uri="{BB962C8B-B14F-4D97-AF65-F5344CB8AC3E}">
        <p14:creationId xmlns:p14="http://schemas.microsoft.com/office/powerpoint/2010/main" val="565690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95400" y="1600200"/>
            <a:ext cx="4800600" cy="458587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 can see the Menu interface four categories </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914400" lvl="0" indent="-342900">
              <a:buFont typeface="Arial" pitchFamily="34" charset="0"/>
              <a:buChar char="•"/>
            </a:pPr>
            <a:r>
              <a:rPr lang="en-US" sz="2000" dirty="0">
                <a:latin typeface="Times New Roman" panose="02020603050405020304" pitchFamily="18" charset="0"/>
                <a:cs typeface="Times New Roman" panose="02020603050405020304" pitchFamily="18" charset="0"/>
              </a:rPr>
              <a:t>Courses</a:t>
            </a:r>
          </a:p>
          <a:p>
            <a:pPr marL="914400" lvl="0" indent="-342900">
              <a:buFont typeface="Arial" pitchFamily="34" charset="0"/>
              <a:buChar char="•"/>
            </a:pPr>
            <a:r>
              <a:rPr lang="en-US" sz="2000" dirty="0">
                <a:latin typeface="Times New Roman" panose="02020603050405020304" pitchFamily="18" charset="0"/>
                <a:cs typeface="Times New Roman" panose="02020603050405020304" pitchFamily="18" charset="0"/>
              </a:rPr>
              <a:t>Registration</a:t>
            </a:r>
          </a:p>
          <a:p>
            <a:pPr marL="914400" lvl="0" indent="-342900">
              <a:buFont typeface="Arial" pitchFamily="34" charset="0"/>
              <a:buChar char="•"/>
            </a:pPr>
            <a:r>
              <a:rPr lang="en-US" sz="2000" dirty="0">
                <a:latin typeface="Times New Roman" panose="02020603050405020304" pitchFamily="18" charset="0"/>
                <a:cs typeface="Times New Roman" panose="02020603050405020304" pitchFamily="18" charset="0"/>
              </a:rPr>
              <a:t>Contact</a:t>
            </a:r>
          </a:p>
          <a:p>
            <a:pPr marL="914400" lvl="0" indent="-342900">
              <a:buFont typeface="Arial" pitchFamily="34" charset="0"/>
              <a:buChar char="•"/>
            </a:pPr>
            <a:r>
              <a:rPr lang="en-US" sz="2000" dirty="0">
                <a:latin typeface="Times New Roman" panose="02020603050405020304" pitchFamily="18" charset="0"/>
                <a:cs typeface="Times New Roman" panose="02020603050405020304" pitchFamily="18" charset="0"/>
              </a:rPr>
              <a:t>About </a:t>
            </a:r>
            <a:r>
              <a:rPr lang="en-US" sz="2000" dirty="0" smtClean="0">
                <a:latin typeface="Times New Roman" panose="02020603050405020304" pitchFamily="18" charset="0"/>
                <a:cs typeface="Times New Roman" panose="02020603050405020304" pitchFamily="18" charset="0"/>
              </a:rPr>
              <a:t>Us</a:t>
            </a:r>
          </a:p>
          <a:p>
            <a:pPr lvl="0"/>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Users of the interface: - All registered and unregistered/back end and front end users.</a:t>
            </a:r>
          </a:p>
          <a:p>
            <a:r>
              <a:rPr lang="en-US" dirty="0"/>
              <a:t/>
            </a:r>
            <a:br>
              <a:rPr lang="en-US" dirty="0"/>
            </a:br>
            <a:r>
              <a:rPr lang="en-US" dirty="0"/>
              <a:t> </a:t>
            </a:r>
          </a:p>
          <a:p>
            <a:endParaRPr lang="en-US" dirty="0"/>
          </a:p>
        </p:txBody>
      </p:sp>
      <p:sp>
        <p:nvSpPr>
          <p:cNvPr id="2" name="TextBox 1"/>
          <p:cNvSpPr txBox="1"/>
          <p:nvPr/>
        </p:nvSpPr>
        <p:spPr>
          <a:xfrm>
            <a:off x="2057400" y="533400"/>
            <a:ext cx="4139531" cy="521681"/>
          </a:xfrm>
          <a:prstGeom prst="rect">
            <a:avLst/>
          </a:prstGeom>
          <a:noFill/>
        </p:spPr>
        <p:txBody>
          <a:bodyPr wrap="none" rtlCol="0">
            <a:spAutoFit/>
          </a:bodyPr>
          <a:lstStyle/>
          <a:p>
            <a:pPr algn="ctr" defTabSz="685800">
              <a:lnSpc>
                <a:spcPct val="90000"/>
              </a:lnSpc>
              <a:spcBef>
                <a:spcPct val="0"/>
              </a:spcBef>
            </a:pPr>
            <a:r>
              <a:rPr lang="en-US" sz="3100" dirty="0">
                <a:latin typeface="Arial Black" panose="020B0A04020102020204" pitchFamily="34" charset="0"/>
                <a:ea typeface="+mj-ea"/>
                <a:cs typeface="+mj-cs"/>
              </a:rPr>
              <a:t>MENU INTERFACE</a:t>
            </a:r>
          </a:p>
        </p:txBody>
      </p:sp>
      <p:sp>
        <p:nvSpPr>
          <p:cNvPr id="6" name="Rectangle 5"/>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00800" y="1143000"/>
            <a:ext cx="2438400" cy="5334000"/>
          </a:xfrm>
        </p:spPr>
      </p:pic>
    </p:spTree>
    <p:extLst>
      <p:ext uri="{BB962C8B-B14F-4D97-AF65-F5344CB8AC3E}">
        <p14:creationId xmlns:p14="http://schemas.microsoft.com/office/powerpoint/2010/main" val="2049556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14399" y="2667000"/>
            <a:ext cx="4572001" cy="2831544"/>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 </a:t>
            </a:r>
          </a:p>
          <a:p>
            <a:pPr marL="342900" indent="-342900">
              <a:buFont typeface="Wingdings" panose="05000000000000000000" pitchFamily="2" charset="2"/>
              <a:buChar char="ü"/>
            </a:pPr>
            <a:r>
              <a:rPr lang="en-US" sz="2000" dirty="0"/>
              <a:t>Fill the details and after user can click the apply button user can register the course</a:t>
            </a:r>
            <a:r>
              <a:rPr lang="en-US" sz="2000" dirty="0" smtClean="0"/>
              <a:t>.</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Users of the interface: - All registered and unregistered/back end and front end users.</a:t>
            </a:r>
          </a:p>
          <a:p>
            <a:endParaRPr lang="en-US" sz="2000" dirty="0"/>
          </a:p>
        </p:txBody>
      </p:sp>
      <p:sp>
        <p:nvSpPr>
          <p:cNvPr id="6" name="Rectangle 5"/>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19799" y="762000"/>
            <a:ext cx="2912384" cy="5562600"/>
          </a:xfrm>
        </p:spPr>
      </p:pic>
      <p:sp>
        <p:nvSpPr>
          <p:cNvPr id="7" name="TextBox 6"/>
          <p:cNvSpPr txBox="1"/>
          <p:nvPr/>
        </p:nvSpPr>
        <p:spPr>
          <a:xfrm>
            <a:off x="381000" y="76200"/>
            <a:ext cx="5638800" cy="951030"/>
          </a:xfrm>
          <a:prstGeom prst="rect">
            <a:avLst/>
          </a:prstGeom>
          <a:noFill/>
        </p:spPr>
        <p:txBody>
          <a:bodyPr wrap="square" rtlCol="0">
            <a:spAutoFit/>
          </a:bodyPr>
          <a:lstStyle/>
          <a:p>
            <a:pPr algn="ctr" defTabSz="685800">
              <a:lnSpc>
                <a:spcPct val="90000"/>
              </a:lnSpc>
              <a:spcBef>
                <a:spcPct val="0"/>
              </a:spcBef>
            </a:pPr>
            <a:r>
              <a:rPr lang="en-US" sz="3100" dirty="0">
                <a:latin typeface="Arial Black" panose="020B0A04020102020204" pitchFamily="34" charset="0"/>
                <a:ea typeface="+mj-ea"/>
                <a:cs typeface="+mj-cs"/>
              </a:rPr>
              <a:t>REGISTRATION FORM INTERFACE</a:t>
            </a:r>
          </a:p>
        </p:txBody>
      </p:sp>
    </p:spTree>
    <p:extLst>
      <p:ext uri="{BB962C8B-B14F-4D97-AF65-F5344CB8AC3E}">
        <p14:creationId xmlns:p14="http://schemas.microsoft.com/office/powerpoint/2010/main" val="2568257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09600"/>
            <a:ext cx="7886700" cy="1325563"/>
          </a:xfrm>
        </p:spPr>
        <p:txBody>
          <a:bodyPr>
            <a:normAutofit/>
          </a:bodyPr>
          <a:lstStyle/>
          <a:p>
            <a:pPr algn="ctr"/>
            <a:r>
              <a:rPr lang="en-US" sz="3100" dirty="0">
                <a:latin typeface="Arial Black" panose="020B0A04020102020204" pitchFamily="34" charset="0"/>
              </a:rPr>
              <a:t>FUNCTIONS</a:t>
            </a:r>
          </a:p>
        </p:txBody>
      </p:sp>
      <p:sp>
        <p:nvSpPr>
          <p:cNvPr id="3" name="Content Placeholder 2"/>
          <p:cNvSpPr>
            <a:spLocks noGrp="1"/>
          </p:cNvSpPr>
          <p:nvPr>
            <p:ph idx="1"/>
          </p:nvPr>
        </p:nvSpPr>
        <p:spPr>
          <a:xfrm>
            <a:off x="1219200" y="1690689"/>
            <a:ext cx="6057900" cy="3109912"/>
          </a:xfrm>
        </p:spPr>
        <p:txBody>
          <a:bodyPr>
            <a:normAutofit/>
          </a:bodyPr>
          <a:lstStyle/>
          <a:p>
            <a:pPr>
              <a:lnSpc>
                <a:spcPct val="150000"/>
              </a:lnSpc>
            </a:pPr>
            <a:r>
              <a:rPr lang="en-US" sz="2000" dirty="0">
                <a:cs typeface="Times New Roman" panose="02020603050405020304" pitchFamily="18" charset="0"/>
              </a:rPr>
              <a:t>User Registration</a:t>
            </a:r>
          </a:p>
          <a:p>
            <a:pPr>
              <a:lnSpc>
                <a:spcPct val="150000"/>
              </a:lnSpc>
            </a:pPr>
            <a:r>
              <a:rPr lang="en-US" sz="2000" dirty="0">
                <a:cs typeface="Times New Roman" panose="02020603050405020304" pitchFamily="18" charset="0"/>
              </a:rPr>
              <a:t>Course Details</a:t>
            </a:r>
          </a:p>
          <a:p>
            <a:pPr>
              <a:lnSpc>
                <a:spcPct val="150000"/>
              </a:lnSpc>
            </a:pPr>
            <a:r>
              <a:rPr lang="en-US" sz="2000" dirty="0">
                <a:cs typeface="Times New Roman" panose="02020603050405020304" pitchFamily="18" charset="0"/>
              </a:rPr>
              <a:t>Course Center Information</a:t>
            </a:r>
          </a:p>
          <a:p>
            <a:pPr>
              <a:lnSpc>
                <a:spcPct val="150000"/>
              </a:lnSpc>
            </a:pPr>
            <a:r>
              <a:rPr lang="en-US" sz="2000" dirty="0">
                <a:cs typeface="Times New Roman" panose="02020603050405020304" pitchFamily="18" charset="0"/>
              </a:rPr>
              <a:t>Course Catalog Overview</a:t>
            </a:r>
          </a:p>
          <a:p>
            <a:pPr>
              <a:lnSpc>
                <a:spcPct val="150000"/>
              </a:lnSpc>
            </a:pPr>
            <a:r>
              <a:rPr lang="en-US" sz="2000" dirty="0">
                <a:cs typeface="Times New Roman" panose="02020603050405020304" pitchFamily="18" charset="0"/>
              </a:rPr>
              <a:t>Registration Process</a:t>
            </a:r>
          </a:p>
          <a:p>
            <a:pPr lvl="0">
              <a:lnSpc>
                <a:spcPct val="150000"/>
              </a:lnSpc>
            </a:pPr>
            <a:endParaRPr lang="en-US" sz="3800" dirty="0"/>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0563" y="4075099"/>
            <a:ext cx="2055337" cy="2744801"/>
          </a:xfrm>
          <a:prstGeom prst="rect">
            <a:avLst/>
          </a:prstGeom>
        </p:spPr>
      </p:pic>
    </p:spTree>
    <p:extLst>
      <p:ext uri="{BB962C8B-B14F-4D97-AF65-F5344CB8AC3E}">
        <p14:creationId xmlns:p14="http://schemas.microsoft.com/office/powerpoint/2010/main" val="31215058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38200"/>
            <a:ext cx="5105400" cy="609600"/>
          </a:xfrm>
        </p:spPr>
        <p:txBody>
          <a:bodyPr>
            <a:noAutofit/>
          </a:bodyPr>
          <a:lstStyle/>
          <a:p>
            <a:pPr algn="ctr"/>
            <a:r>
              <a:rPr lang="en-US" sz="3100" dirty="0">
                <a:latin typeface="Arial Black" panose="020B0A04020102020204" pitchFamily="34" charset="0"/>
              </a:rPr>
              <a:t>PROGECT PLAN</a:t>
            </a:r>
            <a:br>
              <a:rPr lang="en-US" sz="3100" dirty="0">
                <a:latin typeface="Arial Black" panose="020B0A04020102020204" pitchFamily="34" charset="0"/>
              </a:rPr>
            </a:br>
            <a:endParaRPr lang="en-US" sz="3100" dirty="0">
              <a:latin typeface="Arial Black" panose="020B0A04020102020204" pitchFamily="34" charset="0"/>
            </a:endParaRPr>
          </a:p>
        </p:txBody>
      </p:sp>
      <p:pic>
        <p:nvPicPr>
          <p:cNvPr id="4" name="Content Placeholder 3"/>
          <p:cNvPicPr>
            <a:picLocks noGrp="1"/>
          </p:cNvPicPr>
          <p:nvPr>
            <p:ph idx="1"/>
          </p:nvPr>
        </p:nvPicPr>
        <p:blipFill rotWithShape="1">
          <a:blip r:embed="rId2" cstate="print">
            <a:extLst>
              <a:ext uri="{28A0092B-C50C-407E-A947-70E740481C1C}">
                <a14:useLocalDpi xmlns:a14="http://schemas.microsoft.com/office/drawing/2010/main" val="0"/>
              </a:ext>
            </a:extLst>
          </a:blip>
          <a:stretch/>
        </p:blipFill>
        <p:spPr bwMode="auto">
          <a:xfrm>
            <a:off x="685800" y="2057400"/>
            <a:ext cx="7735712" cy="43513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
        <p:nvSpPr>
          <p:cNvPr id="5" name="Rectangle 4"/>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8190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0657" y="4648200"/>
            <a:ext cx="2053343" cy="2743332"/>
          </a:xfrm>
          <a:prstGeom prst="rect">
            <a:avLst/>
          </a:prstGeom>
        </p:spPr>
      </p:pic>
      <p:sp>
        <p:nvSpPr>
          <p:cNvPr id="2" name="Title 1"/>
          <p:cNvSpPr>
            <a:spLocks noGrp="1"/>
          </p:cNvSpPr>
          <p:nvPr>
            <p:ph type="title"/>
          </p:nvPr>
        </p:nvSpPr>
        <p:spPr>
          <a:xfrm>
            <a:off x="771024" y="271350"/>
            <a:ext cx="7886700" cy="1325563"/>
          </a:xfrm>
        </p:spPr>
        <p:txBody>
          <a:bodyPr>
            <a:normAutofit/>
          </a:bodyPr>
          <a:lstStyle/>
          <a:p>
            <a:pPr algn="ctr"/>
            <a:r>
              <a:rPr lang="en-US" sz="3100" dirty="0">
                <a:latin typeface="Arial Black" panose="020B0A04020102020204" pitchFamily="34" charset="0"/>
              </a:rPr>
              <a:t>WORK BREAK DOWN STRUCTURE</a:t>
            </a:r>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5800" y="1219200"/>
            <a:ext cx="7886700" cy="4078128"/>
          </a:xfrm>
        </p:spPr>
      </p:pic>
    </p:spTree>
    <p:extLst>
      <p:ext uri="{BB962C8B-B14F-4D97-AF65-F5344CB8AC3E}">
        <p14:creationId xmlns:p14="http://schemas.microsoft.com/office/powerpoint/2010/main" val="427527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81806"/>
            <a:ext cx="7886700" cy="1325563"/>
          </a:xfrm>
        </p:spPr>
        <p:txBody>
          <a:bodyPr>
            <a:normAutofit/>
          </a:bodyPr>
          <a:lstStyle/>
          <a:p>
            <a:pPr algn="ctr"/>
            <a:r>
              <a:rPr lang="en-US" sz="3100" dirty="0">
                <a:latin typeface="Arial Black" panose="020B0A04020102020204" pitchFamily="34" charset="0"/>
              </a:rPr>
              <a:t>CONCULATION</a:t>
            </a:r>
            <a:br>
              <a:rPr lang="en-US" sz="3100" dirty="0">
                <a:latin typeface="Arial Black" panose="020B0A04020102020204" pitchFamily="34" charset="0"/>
              </a:rPr>
            </a:br>
            <a:endParaRPr lang="en-US" sz="3100" dirty="0">
              <a:latin typeface="Arial Black" panose="020B0A04020102020204" pitchFamily="34" charset="0"/>
            </a:endParaRPr>
          </a:p>
        </p:txBody>
      </p:sp>
      <p:sp>
        <p:nvSpPr>
          <p:cNvPr id="3" name="Content Placeholder 2"/>
          <p:cNvSpPr>
            <a:spLocks noGrp="1"/>
          </p:cNvSpPr>
          <p:nvPr>
            <p:ph idx="1"/>
          </p:nvPr>
        </p:nvSpPr>
        <p:spPr/>
        <p:txBody>
          <a:bodyPr>
            <a:noAutofit/>
          </a:bodyPr>
          <a:lstStyle/>
          <a:p>
            <a:pPr>
              <a:lnSpc>
                <a:spcPct val="150000"/>
              </a:lnSpc>
            </a:pPr>
            <a:r>
              <a:rPr lang="en-US" sz="2000" dirty="0">
                <a:cs typeface="Times New Roman" panose="02020603050405020304" pitchFamily="18" charset="0"/>
              </a:rPr>
              <a:t>In Conclusion, the app we developed for student submission and administrative management, utilizing a firebase database, offers a streamlined and efficient solution for handling student data.</a:t>
            </a:r>
          </a:p>
          <a:p>
            <a:pPr>
              <a:lnSpc>
                <a:spcPct val="150000"/>
              </a:lnSpc>
            </a:pPr>
            <a:r>
              <a:rPr lang="en-US" sz="2000" dirty="0">
                <a:cs typeface="Times New Roman" panose="02020603050405020304" pitchFamily="18" charset="0"/>
              </a:rPr>
              <a:t>By leveraging firebase’s capabilities, such as data  storage and retrieval, our app provides an effective platform for students to submit their information and allows administrators to conveniently view and manage the submitted data.</a:t>
            </a:r>
          </a:p>
          <a:p>
            <a:pPr>
              <a:lnSpc>
                <a:spcPct val="150000"/>
              </a:lnSpc>
            </a:pPr>
            <a:r>
              <a:rPr lang="en-US" sz="2000" dirty="0">
                <a:cs typeface="Times New Roman" panose="02020603050405020304" pitchFamily="18" charset="0"/>
              </a:rPr>
              <a:t>This app simplifies the process of the data submission and management, enhancing efficiency and organization in the educational setting.</a:t>
            </a:r>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45753" y="5257800"/>
            <a:ext cx="1198247" cy="1600200"/>
          </a:xfrm>
          <a:prstGeom prst="rect">
            <a:avLst/>
          </a:prstGeom>
        </p:spPr>
      </p:pic>
    </p:spTree>
    <p:extLst>
      <p:ext uri="{BB962C8B-B14F-4D97-AF65-F5344CB8AC3E}">
        <p14:creationId xmlns:p14="http://schemas.microsoft.com/office/powerpoint/2010/main" val="28361598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Arial Black" panose="020B0A04020102020204" pitchFamily="34" charset="0"/>
              </a:rPr>
              <a:t>FUTURE DEVELOPMENT</a:t>
            </a:r>
            <a:endParaRPr lang="en-US" dirty="0"/>
          </a:p>
        </p:txBody>
      </p:sp>
      <p:sp>
        <p:nvSpPr>
          <p:cNvPr id="3" name="Content Placeholder 2"/>
          <p:cNvSpPr>
            <a:spLocks noGrp="1"/>
          </p:cNvSpPr>
          <p:nvPr>
            <p:ph idx="1"/>
          </p:nvPr>
        </p:nvSpPr>
        <p:spPr/>
        <p:txBody>
          <a:bodyPr/>
          <a:lstStyle/>
          <a:p>
            <a:r>
              <a:rPr lang="en-US" dirty="0" smtClean="0"/>
              <a:t>Modify the admin panel</a:t>
            </a:r>
          </a:p>
          <a:p>
            <a:pPr marL="0" indent="0">
              <a:buNone/>
            </a:pPr>
            <a:r>
              <a:rPr lang="en-US" dirty="0" smtClean="0"/>
              <a:t>	admin can delete and modify user details.</a:t>
            </a:r>
          </a:p>
          <a:p>
            <a:pPr marL="0" indent="0">
              <a:buNone/>
            </a:pPr>
            <a:r>
              <a:rPr lang="en-US" dirty="0"/>
              <a:t>	</a:t>
            </a:r>
            <a:r>
              <a:rPr lang="en-US" dirty="0" smtClean="0"/>
              <a:t>he can also add , delete and modify course details.</a:t>
            </a:r>
          </a:p>
          <a:p>
            <a:pPr marL="0" indent="0">
              <a:buNone/>
            </a:pPr>
            <a:r>
              <a:rPr lang="en-US" dirty="0"/>
              <a:t>	</a:t>
            </a:r>
            <a:r>
              <a:rPr lang="en-US" dirty="0" smtClean="0"/>
              <a:t>super admin can add another admins.</a:t>
            </a:r>
          </a:p>
          <a:p>
            <a:pPr marL="0" indent="0">
              <a:buNone/>
            </a:pPr>
            <a:r>
              <a:rPr lang="en-US" dirty="0"/>
              <a:t>	</a:t>
            </a:r>
          </a:p>
          <a:p>
            <a:r>
              <a:rPr lang="en-US" dirty="0" smtClean="0"/>
              <a:t>Add user profile</a:t>
            </a:r>
          </a:p>
          <a:p>
            <a:pPr marL="0" indent="0">
              <a:buNone/>
            </a:pPr>
            <a:r>
              <a:rPr lang="en-US" dirty="0"/>
              <a:t>	</a:t>
            </a:r>
            <a:r>
              <a:rPr lang="en-US" dirty="0" smtClean="0"/>
              <a:t>user can modify and delete his/her details if there was a error.</a:t>
            </a:r>
          </a:p>
          <a:p>
            <a:pPr marL="0" indent="0">
              <a:buNone/>
            </a:pPr>
            <a:endParaRPr lang="en-US" dirty="0"/>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3233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209800"/>
            <a:ext cx="5181600" cy="1325563"/>
          </a:xfrm>
        </p:spPr>
        <p:txBody>
          <a:bodyPr>
            <a:normAutofit/>
          </a:bodyPr>
          <a:lstStyle/>
          <a:p>
            <a:r>
              <a:rPr lang="en-US" sz="4500" dirty="0" smtClean="0">
                <a:latin typeface="Arial Black" panose="020B0A04020102020204" pitchFamily="34" charset="0"/>
              </a:rPr>
              <a:t>Any Question ?</a:t>
            </a:r>
            <a:endParaRPr lang="en-US" sz="4500" dirty="0">
              <a:latin typeface="Arial Black" panose="020B0A04020102020204" pitchFamily="34" charset="0"/>
            </a:endParaRPr>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705600" y="4267200"/>
            <a:ext cx="2053343" cy="2743332"/>
          </a:xfrm>
          <a:prstGeom prst="rect">
            <a:avLst/>
          </a:prstGeom>
        </p:spPr>
      </p:pic>
    </p:spTree>
    <p:extLst>
      <p:ext uri="{BB962C8B-B14F-4D97-AF65-F5344CB8AC3E}">
        <p14:creationId xmlns:p14="http://schemas.microsoft.com/office/powerpoint/2010/main" val="1706366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2209800"/>
            <a:ext cx="8343900" cy="1325563"/>
          </a:xfrm>
        </p:spPr>
        <p:txBody>
          <a:bodyPr>
            <a:normAutofit/>
          </a:bodyPr>
          <a:lstStyle/>
          <a:p>
            <a:r>
              <a:rPr lang="en-US" sz="4500" dirty="0">
                <a:latin typeface="Arial Black" panose="020B0A04020102020204" pitchFamily="34" charset="0"/>
              </a:rPr>
              <a:t>THANK YOU</a:t>
            </a:r>
          </a:p>
        </p:txBody>
      </p:sp>
      <p:sp>
        <p:nvSpPr>
          <p:cNvPr id="4" name="Rectangle 3"/>
          <p:cNvSpPr/>
          <p:nvPr/>
        </p:nvSpPr>
        <p:spPr>
          <a:xfrm>
            <a:off x="0" y="0"/>
            <a:ext cx="381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066594" y="4086594"/>
            <a:ext cx="2053343" cy="2743332"/>
          </a:xfrm>
          <a:prstGeom prst="rect">
            <a:avLst/>
          </a:prstGeom>
        </p:spPr>
      </p:pic>
    </p:spTree>
    <p:extLst>
      <p:ext uri="{BB962C8B-B14F-4D97-AF65-F5344CB8AC3E}">
        <p14:creationId xmlns:p14="http://schemas.microsoft.com/office/powerpoint/2010/main" val="4043736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699</TotalTime>
  <Words>511</Words>
  <Application>Microsoft Office PowerPoint</Application>
  <PresentationFormat>On-screen Show (4:3)</PresentationFormat>
  <Paragraphs>76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Black</vt:lpstr>
      <vt:lpstr>Calibri</vt:lpstr>
      <vt:lpstr>Calibri Light</vt:lpstr>
      <vt:lpstr>Times New Roman</vt:lpstr>
      <vt:lpstr>Wingdings</vt:lpstr>
      <vt:lpstr>Office Theme</vt:lpstr>
      <vt:lpstr>Mobile Application Development</vt:lpstr>
      <vt:lpstr>GROUP MEMBERS</vt:lpstr>
      <vt:lpstr> Content</vt:lpstr>
      <vt:lpstr>INTRODUCTION</vt:lpstr>
      <vt:lpstr>Problem Statement   </vt:lpstr>
      <vt:lpstr>ARCHITECTURE</vt:lpstr>
      <vt:lpstr>PowerPoint Presentation</vt:lpstr>
      <vt:lpstr>User can click the start button then user can see menu interface.  Users of the interface: - All registered and unregistered/back end and front end users.</vt:lpstr>
      <vt:lpstr>PowerPoint Presentation</vt:lpstr>
      <vt:lpstr>PowerPoint Presentation</vt:lpstr>
      <vt:lpstr>FUNCTIONS</vt:lpstr>
      <vt:lpstr>PROGECT PLAN </vt:lpstr>
      <vt:lpstr>WORK BREAK DOWN STRUCTURE</vt:lpstr>
      <vt:lpstr>CONCULATION </vt:lpstr>
      <vt:lpstr>FUTURE DEVELOPMENT</vt:lpstr>
      <vt:lpstr>Any Question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dc:title>
  <dc:creator>win10</dc:creator>
  <cp:lastModifiedBy>ict5</cp:lastModifiedBy>
  <cp:revision>66</cp:revision>
  <dcterms:created xsi:type="dcterms:W3CDTF">2023-07-10T15:08:06Z</dcterms:created>
  <dcterms:modified xsi:type="dcterms:W3CDTF">2023-07-12T11:24:59Z</dcterms:modified>
</cp:coreProperties>
</file>